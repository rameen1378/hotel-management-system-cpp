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2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509919-36B5-4162-8899-417A9F93473B}" type="doc">
      <dgm:prSet loTypeId="urn:microsoft.com/office/officeart/2016/7/layout/LinearBlockProcessNumbered#1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AF9DEE3-8444-4CA1-8BC2-D834D3ED6C74}">
      <dgm:prSet custT="1"/>
      <dgm:spPr/>
      <dgm:t>
        <a:bodyPr/>
        <a:lstStyle/>
        <a:p>
          <a:pPr>
            <a:buNone/>
          </a:pPr>
          <a:r>
            <a:rPr lang="en-US" sz="2000" dirty="0"/>
            <a:t>This project is developed in C language using structures and file handling.</a:t>
          </a:r>
        </a:p>
      </dgm:t>
    </dgm:pt>
    <dgm:pt modelId="{205BDF49-153E-4CE8-8402-E23704595764}" type="parTrans" cxnId="{0A7DA706-17DD-412A-8BE0-4F6529274E66}">
      <dgm:prSet/>
      <dgm:spPr/>
      <dgm:t>
        <a:bodyPr/>
        <a:lstStyle/>
        <a:p>
          <a:endParaRPr lang="en-US"/>
        </a:p>
      </dgm:t>
    </dgm:pt>
    <dgm:pt modelId="{23210C7F-6847-491E-BE1F-A79529AF2B8B}" type="sibTrans" cxnId="{0A7DA706-17DD-412A-8BE0-4F6529274E6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B2B879BD-3840-400C-92BD-B2C2383358D7}">
      <dgm:prSet custT="1"/>
      <dgm:spPr/>
      <dgm:t>
        <a:bodyPr/>
        <a:lstStyle/>
        <a:p>
          <a:pPr>
            <a:buNone/>
          </a:pPr>
          <a:r>
            <a:rPr lang="en-US" sz="2000" dirty="0"/>
            <a:t>The system stores hotel guest records such as name, contact, CNIC, membership, room number, and stay details.</a:t>
          </a:r>
        </a:p>
      </dgm:t>
    </dgm:pt>
    <dgm:pt modelId="{09440D86-F3E6-4A3C-9E78-1AFC56348641}" type="parTrans" cxnId="{42CDCACA-F394-4044-BBF6-522A0005ABCB}">
      <dgm:prSet/>
      <dgm:spPr/>
      <dgm:t>
        <a:bodyPr/>
        <a:lstStyle/>
        <a:p>
          <a:endParaRPr lang="en-US"/>
        </a:p>
      </dgm:t>
    </dgm:pt>
    <dgm:pt modelId="{FBAA44FF-54DE-45C8-9FAC-512C40277233}" type="sibTrans" cxnId="{42CDCACA-F394-4044-BBF6-522A0005ABCB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CA9D674E-4FF1-45DC-82E4-0B2DB6A5363F}">
      <dgm:prSet custT="1"/>
      <dgm:spPr/>
      <dgm:t>
        <a:bodyPr/>
        <a:lstStyle/>
        <a:p>
          <a:pPr>
            <a:buNone/>
          </a:pPr>
          <a:r>
            <a:rPr lang="en-US" sz="2000" dirty="0"/>
            <a:t>Binary file handling (</a:t>
          </a:r>
          <a:r>
            <a:rPr lang="en-US" sz="2000" dirty="0" err="1"/>
            <a:t>fwrite</a:t>
          </a:r>
          <a:r>
            <a:rPr lang="en-US" sz="2000" dirty="0"/>
            <a:t> and </a:t>
          </a:r>
          <a:r>
            <a:rPr lang="en-US" sz="2000" dirty="0" err="1"/>
            <a:t>fread</a:t>
          </a:r>
          <a:r>
            <a:rPr lang="en-US" sz="2000" dirty="0"/>
            <a:t>) is used to save and display customer records efficiently.</a:t>
          </a:r>
        </a:p>
      </dgm:t>
    </dgm:pt>
    <dgm:pt modelId="{F1F10F9B-925A-4787-9D00-91106497A02E}" type="parTrans" cxnId="{C5BD0B3A-2D82-4EC1-9975-05076C4418DA}">
      <dgm:prSet/>
      <dgm:spPr/>
      <dgm:t>
        <a:bodyPr/>
        <a:lstStyle/>
        <a:p>
          <a:endParaRPr lang="en-US"/>
        </a:p>
      </dgm:t>
    </dgm:pt>
    <dgm:pt modelId="{196DA4DC-9DD2-4A39-8A3A-D367BFE5A8BA}" type="sibTrans" cxnId="{C5BD0B3A-2D82-4EC1-9975-05076C4418DA}">
      <dgm:prSet phldrT="03" phldr="0"/>
      <dgm:spPr/>
      <dgm:t>
        <a:bodyPr/>
        <a:lstStyle/>
        <a:p>
          <a:r>
            <a:rPr lang="en-US"/>
            <a:t>03</a:t>
          </a:r>
          <a:endParaRPr lang="en-US" dirty="0"/>
        </a:p>
      </dgm:t>
    </dgm:pt>
    <dgm:pt modelId="{09F899AB-70CA-46DA-8F8C-58514A9FEF67}" type="pres">
      <dgm:prSet presAssocID="{15509919-36B5-4162-8899-417A9F93473B}" presName="Name0" presStyleCnt="0">
        <dgm:presLayoutVars>
          <dgm:animLvl val="lvl"/>
          <dgm:resizeHandles val="exact"/>
        </dgm:presLayoutVars>
      </dgm:prSet>
      <dgm:spPr/>
    </dgm:pt>
    <dgm:pt modelId="{9E708B2C-9056-43B8-820C-8D4D2D591614}" type="pres">
      <dgm:prSet presAssocID="{AAF9DEE3-8444-4CA1-8BC2-D834D3ED6C74}" presName="compositeNode" presStyleCnt="0">
        <dgm:presLayoutVars>
          <dgm:bulletEnabled val="1"/>
        </dgm:presLayoutVars>
      </dgm:prSet>
      <dgm:spPr/>
    </dgm:pt>
    <dgm:pt modelId="{F4992080-7D4E-4F2B-B608-170DDBB6006A}" type="pres">
      <dgm:prSet presAssocID="{AAF9DEE3-8444-4CA1-8BC2-D834D3ED6C74}" presName="bgRect" presStyleLbl="alignNode1" presStyleIdx="0" presStyleCnt="3"/>
      <dgm:spPr/>
    </dgm:pt>
    <dgm:pt modelId="{15536E38-36FE-4A51-B620-2715BFAD5475}" type="pres">
      <dgm:prSet presAssocID="{23210C7F-6847-491E-BE1F-A79529AF2B8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158057C-23C1-45AE-9273-5935A8F6104B}" type="pres">
      <dgm:prSet presAssocID="{AAF9DEE3-8444-4CA1-8BC2-D834D3ED6C74}" presName="nodeRect" presStyleLbl="alignNode1" presStyleIdx="0" presStyleCnt="3">
        <dgm:presLayoutVars>
          <dgm:bulletEnabled val="1"/>
        </dgm:presLayoutVars>
      </dgm:prSet>
      <dgm:spPr/>
    </dgm:pt>
    <dgm:pt modelId="{5D52B8B6-958E-480C-9455-911A104C8C73}" type="pres">
      <dgm:prSet presAssocID="{23210C7F-6847-491E-BE1F-A79529AF2B8B}" presName="sibTrans" presStyleCnt="0"/>
      <dgm:spPr/>
    </dgm:pt>
    <dgm:pt modelId="{070CFBFA-AE62-406D-B2E3-4A871FE3EC95}" type="pres">
      <dgm:prSet presAssocID="{B2B879BD-3840-400C-92BD-B2C2383358D7}" presName="compositeNode" presStyleCnt="0">
        <dgm:presLayoutVars>
          <dgm:bulletEnabled val="1"/>
        </dgm:presLayoutVars>
      </dgm:prSet>
      <dgm:spPr/>
    </dgm:pt>
    <dgm:pt modelId="{89A9B4CF-6439-46B1-B6A9-1D6CD5034774}" type="pres">
      <dgm:prSet presAssocID="{B2B879BD-3840-400C-92BD-B2C2383358D7}" presName="bgRect" presStyleLbl="alignNode1" presStyleIdx="1" presStyleCnt="3"/>
      <dgm:spPr/>
    </dgm:pt>
    <dgm:pt modelId="{379B8CE4-8135-4F2C-A5A0-E55EBE328E9A}" type="pres">
      <dgm:prSet presAssocID="{FBAA44FF-54DE-45C8-9FAC-512C4027723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F2B2B99-E41C-48B6-9241-186B3896CDB2}" type="pres">
      <dgm:prSet presAssocID="{B2B879BD-3840-400C-92BD-B2C2383358D7}" presName="nodeRect" presStyleLbl="alignNode1" presStyleIdx="1" presStyleCnt="3">
        <dgm:presLayoutVars>
          <dgm:bulletEnabled val="1"/>
        </dgm:presLayoutVars>
      </dgm:prSet>
      <dgm:spPr/>
    </dgm:pt>
    <dgm:pt modelId="{88CC7DDE-DA0F-42A6-8406-A11161BD6BA9}" type="pres">
      <dgm:prSet presAssocID="{FBAA44FF-54DE-45C8-9FAC-512C40277233}" presName="sibTrans" presStyleCnt="0"/>
      <dgm:spPr/>
    </dgm:pt>
    <dgm:pt modelId="{4C550E1C-ACB2-4A5D-BD4A-3D5D60E405E6}" type="pres">
      <dgm:prSet presAssocID="{CA9D674E-4FF1-45DC-82E4-0B2DB6A5363F}" presName="compositeNode" presStyleCnt="0">
        <dgm:presLayoutVars>
          <dgm:bulletEnabled val="1"/>
        </dgm:presLayoutVars>
      </dgm:prSet>
      <dgm:spPr/>
    </dgm:pt>
    <dgm:pt modelId="{0802B4A8-7224-4B0A-95B7-D17AEB2B2AFF}" type="pres">
      <dgm:prSet presAssocID="{CA9D674E-4FF1-45DC-82E4-0B2DB6A5363F}" presName="bgRect" presStyleLbl="alignNode1" presStyleIdx="2" presStyleCnt="3" custLinFactNeighborX="25" custLinFactNeighborY="-285"/>
      <dgm:spPr/>
    </dgm:pt>
    <dgm:pt modelId="{68AC9669-DC11-473A-AA2E-579A44E78C37}" type="pres">
      <dgm:prSet presAssocID="{196DA4DC-9DD2-4A39-8A3A-D367BFE5A8B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085015A-41AF-4EFA-A104-4FD73B2362F0}" type="pres">
      <dgm:prSet presAssocID="{CA9D674E-4FF1-45DC-82E4-0B2DB6A5363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A7DA706-17DD-412A-8BE0-4F6529274E66}" srcId="{15509919-36B5-4162-8899-417A9F93473B}" destId="{AAF9DEE3-8444-4CA1-8BC2-D834D3ED6C74}" srcOrd="0" destOrd="0" parTransId="{205BDF49-153E-4CE8-8402-E23704595764}" sibTransId="{23210C7F-6847-491E-BE1F-A79529AF2B8B}"/>
    <dgm:cxn modelId="{109C0B15-B806-4127-A7EA-6F2FD85C2B5C}" type="presOf" srcId="{AAF9DEE3-8444-4CA1-8BC2-D834D3ED6C74}" destId="{B158057C-23C1-45AE-9273-5935A8F6104B}" srcOrd="1" destOrd="0" presId="urn:microsoft.com/office/officeart/2016/7/layout/LinearBlockProcessNumbered#1"/>
    <dgm:cxn modelId="{284ED317-FBD3-4318-9DC1-43DD0A7A84DA}" type="presOf" srcId="{CA9D674E-4FF1-45DC-82E4-0B2DB6A5363F}" destId="{D085015A-41AF-4EFA-A104-4FD73B2362F0}" srcOrd="1" destOrd="0" presId="urn:microsoft.com/office/officeart/2016/7/layout/LinearBlockProcessNumbered#1"/>
    <dgm:cxn modelId="{28938E20-006F-438A-BC3B-539C09A41AF8}" type="presOf" srcId="{23210C7F-6847-491E-BE1F-A79529AF2B8B}" destId="{15536E38-36FE-4A51-B620-2715BFAD5475}" srcOrd="0" destOrd="0" presId="urn:microsoft.com/office/officeart/2016/7/layout/LinearBlockProcessNumbered#1"/>
    <dgm:cxn modelId="{9519B82E-A537-470B-AA27-A5E33C934F3E}" type="presOf" srcId="{196DA4DC-9DD2-4A39-8A3A-D367BFE5A8BA}" destId="{68AC9669-DC11-473A-AA2E-579A44E78C37}" srcOrd="0" destOrd="0" presId="urn:microsoft.com/office/officeart/2016/7/layout/LinearBlockProcessNumbered#1"/>
    <dgm:cxn modelId="{E774C62E-62A2-478F-B2D4-49AC51F9A4FC}" type="presOf" srcId="{FBAA44FF-54DE-45C8-9FAC-512C40277233}" destId="{379B8CE4-8135-4F2C-A5A0-E55EBE328E9A}" srcOrd="0" destOrd="0" presId="urn:microsoft.com/office/officeart/2016/7/layout/LinearBlockProcessNumbered#1"/>
    <dgm:cxn modelId="{C5BD0B3A-2D82-4EC1-9975-05076C4418DA}" srcId="{15509919-36B5-4162-8899-417A9F93473B}" destId="{CA9D674E-4FF1-45DC-82E4-0B2DB6A5363F}" srcOrd="2" destOrd="0" parTransId="{F1F10F9B-925A-4787-9D00-91106497A02E}" sibTransId="{196DA4DC-9DD2-4A39-8A3A-D367BFE5A8BA}"/>
    <dgm:cxn modelId="{6E5EF465-680F-4962-87CA-2B44BA61BBF3}" type="presOf" srcId="{AAF9DEE3-8444-4CA1-8BC2-D834D3ED6C74}" destId="{F4992080-7D4E-4F2B-B608-170DDBB6006A}" srcOrd="0" destOrd="0" presId="urn:microsoft.com/office/officeart/2016/7/layout/LinearBlockProcessNumbered#1"/>
    <dgm:cxn modelId="{BE05FF76-48E4-476C-9495-A13A63321F9B}" type="presOf" srcId="{B2B879BD-3840-400C-92BD-B2C2383358D7}" destId="{89A9B4CF-6439-46B1-B6A9-1D6CD5034774}" srcOrd="0" destOrd="0" presId="urn:microsoft.com/office/officeart/2016/7/layout/LinearBlockProcessNumbered#1"/>
    <dgm:cxn modelId="{AEC6D081-73F8-41AD-9101-B43295B68E14}" type="presOf" srcId="{CA9D674E-4FF1-45DC-82E4-0B2DB6A5363F}" destId="{0802B4A8-7224-4B0A-95B7-D17AEB2B2AFF}" srcOrd="0" destOrd="0" presId="urn:microsoft.com/office/officeart/2016/7/layout/LinearBlockProcessNumbered#1"/>
    <dgm:cxn modelId="{840BB0C7-181A-4BA4-9324-C35937B4BA77}" type="presOf" srcId="{15509919-36B5-4162-8899-417A9F93473B}" destId="{09F899AB-70CA-46DA-8F8C-58514A9FEF67}" srcOrd="0" destOrd="0" presId="urn:microsoft.com/office/officeart/2016/7/layout/LinearBlockProcessNumbered#1"/>
    <dgm:cxn modelId="{42CDCACA-F394-4044-BBF6-522A0005ABCB}" srcId="{15509919-36B5-4162-8899-417A9F93473B}" destId="{B2B879BD-3840-400C-92BD-B2C2383358D7}" srcOrd="1" destOrd="0" parTransId="{09440D86-F3E6-4A3C-9E78-1AFC56348641}" sibTransId="{FBAA44FF-54DE-45C8-9FAC-512C40277233}"/>
    <dgm:cxn modelId="{6AB3E3E3-CAC3-4821-AAD0-21289FC8AF3F}" type="presOf" srcId="{B2B879BD-3840-400C-92BD-B2C2383358D7}" destId="{9F2B2B99-E41C-48B6-9241-186B3896CDB2}" srcOrd="1" destOrd="0" presId="urn:microsoft.com/office/officeart/2016/7/layout/LinearBlockProcessNumbered#1"/>
    <dgm:cxn modelId="{90D3E440-E32E-4616-A794-C357B58C725C}" type="presParOf" srcId="{09F899AB-70CA-46DA-8F8C-58514A9FEF67}" destId="{9E708B2C-9056-43B8-820C-8D4D2D591614}" srcOrd="0" destOrd="0" presId="urn:microsoft.com/office/officeart/2016/7/layout/LinearBlockProcessNumbered#1"/>
    <dgm:cxn modelId="{94905F72-0547-4876-85BD-1CE201853F0E}" type="presParOf" srcId="{9E708B2C-9056-43B8-820C-8D4D2D591614}" destId="{F4992080-7D4E-4F2B-B608-170DDBB6006A}" srcOrd="0" destOrd="0" presId="urn:microsoft.com/office/officeart/2016/7/layout/LinearBlockProcessNumbered#1"/>
    <dgm:cxn modelId="{32F232D9-C82F-455D-A4CB-8A6F950974CB}" type="presParOf" srcId="{9E708B2C-9056-43B8-820C-8D4D2D591614}" destId="{15536E38-36FE-4A51-B620-2715BFAD5475}" srcOrd="1" destOrd="0" presId="urn:microsoft.com/office/officeart/2016/7/layout/LinearBlockProcessNumbered#1"/>
    <dgm:cxn modelId="{E1630E94-0972-452E-A256-8FE168492E2F}" type="presParOf" srcId="{9E708B2C-9056-43B8-820C-8D4D2D591614}" destId="{B158057C-23C1-45AE-9273-5935A8F6104B}" srcOrd="2" destOrd="0" presId="urn:microsoft.com/office/officeart/2016/7/layout/LinearBlockProcessNumbered#1"/>
    <dgm:cxn modelId="{3D53040A-6114-439D-91AE-A92823686B42}" type="presParOf" srcId="{09F899AB-70CA-46DA-8F8C-58514A9FEF67}" destId="{5D52B8B6-958E-480C-9455-911A104C8C73}" srcOrd="1" destOrd="0" presId="urn:microsoft.com/office/officeart/2016/7/layout/LinearBlockProcessNumbered#1"/>
    <dgm:cxn modelId="{71CD1E60-9941-432A-AAD3-6BEE9759C7CA}" type="presParOf" srcId="{09F899AB-70CA-46DA-8F8C-58514A9FEF67}" destId="{070CFBFA-AE62-406D-B2E3-4A871FE3EC95}" srcOrd="2" destOrd="0" presId="urn:microsoft.com/office/officeart/2016/7/layout/LinearBlockProcessNumbered#1"/>
    <dgm:cxn modelId="{E24E5F24-B05D-485A-B1E3-F029361EAC2F}" type="presParOf" srcId="{070CFBFA-AE62-406D-B2E3-4A871FE3EC95}" destId="{89A9B4CF-6439-46B1-B6A9-1D6CD5034774}" srcOrd="0" destOrd="0" presId="urn:microsoft.com/office/officeart/2016/7/layout/LinearBlockProcessNumbered#1"/>
    <dgm:cxn modelId="{B1A2A29E-FBA6-4188-BE73-D4752962B995}" type="presParOf" srcId="{070CFBFA-AE62-406D-B2E3-4A871FE3EC95}" destId="{379B8CE4-8135-4F2C-A5A0-E55EBE328E9A}" srcOrd="1" destOrd="0" presId="urn:microsoft.com/office/officeart/2016/7/layout/LinearBlockProcessNumbered#1"/>
    <dgm:cxn modelId="{F07F5881-E747-4C57-B3A8-80D81CA9E653}" type="presParOf" srcId="{070CFBFA-AE62-406D-B2E3-4A871FE3EC95}" destId="{9F2B2B99-E41C-48B6-9241-186B3896CDB2}" srcOrd="2" destOrd="0" presId="urn:microsoft.com/office/officeart/2016/7/layout/LinearBlockProcessNumbered#1"/>
    <dgm:cxn modelId="{CFE97617-C516-4DC5-9F9C-80DAA0EDE08F}" type="presParOf" srcId="{09F899AB-70CA-46DA-8F8C-58514A9FEF67}" destId="{88CC7DDE-DA0F-42A6-8406-A11161BD6BA9}" srcOrd="3" destOrd="0" presId="urn:microsoft.com/office/officeart/2016/7/layout/LinearBlockProcessNumbered#1"/>
    <dgm:cxn modelId="{B7A23FED-2302-47D8-8E80-C7B4D99F0301}" type="presParOf" srcId="{09F899AB-70CA-46DA-8F8C-58514A9FEF67}" destId="{4C550E1C-ACB2-4A5D-BD4A-3D5D60E405E6}" srcOrd="4" destOrd="0" presId="urn:microsoft.com/office/officeart/2016/7/layout/LinearBlockProcessNumbered#1"/>
    <dgm:cxn modelId="{B9E766C8-B1F9-4299-93D9-C5605EEE5998}" type="presParOf" srcId="{4C550E1C-ACB2-4A5D-BD4A-3D5D60E405E6}" destId="{0802B4A8-7224-4B0A-95B7-D17AEB2B2AFF}" srcOrd="0" destOrd="0" presId="urn:microsoft.com/office/officeart/2016/7/layout/LinearBlockProcessNumbered#1"/>
    <dgm:cxn modelId="{DDDBCEBE-059F-40AD-A1D1-8D888A5BCC15}" type="presParOf" srcId="{4C550E1C-ACB2-4A5D-BD4A-3D5D60E405E6}" destId="{68AC9669-DC11-473A-AA2E-579A44E78C37}" srcOrd="1" destOrd="0" presId="urn:microsoft.com/office/officeart/2016/7/layout/LinearBlockProcessNumbered#1"/>
    <dgm:cxn modelId="{90FC101C-CCF0-411F-ABB9-797553DF6D08}" type="presParOf" srcId="{4C550E1C-ACB2-4A5D-BD4A-3D5D60E405E6}" destId="{D085015A-41AF-4EFA-A104-4FD73B2362F0}" srcOrd="2" destOrd="0" presId="urn:microsoft.com/office/officeart/2016/7/layout/LinearBlock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92080-7D4E-4F2B-B608-170DDBB6006A}">
      <dsp:nvSpPr>
        <dsp:cNvPr id="0" name=""/>
        <dsp:cNvSpPr/>
      </dsp:nvSpPr>
      <dsp:spPr>
        <a:xfrm>
          <a:off x="785" y="0"/>
          <a:ext cx="3182540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This project is developed in C language using structures and file handling.</a:t>
          </a:r>
        </a:p>
      </dsp:txBody>
      <dsp:txXfrm>
        <a:off x="785" y="1490244"/>
        <a:ext cx="3182540" cy="2235367"/>
      </dsp:txXfrm>
    </dsp:sp>
    <dsp:sp modelId="{15536E38-36FE-4A51-B620-2715BFAD5475}">
      <dsp:nvSpPr>
        <dsp:cNvPr id="0" name=""/>
        <dsp:cNvSpPr/>
      </dsp:nvSpPr>
      <dsp:spPr>
        <a:xfrm>
          <a:off x="785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785" y="0"/>
        <a:ext cx="3182540" cy="1490244"/>
      </dsp:txXfrm>
    </dsp:sp>
    <dsp:sp modelId="{89A9B4CF-6439-46B1-B6A9-1D6CD5034774}">
      <dsp:nvSpPr>
        <dsp:cNvPr id="0" name=""/>
        <dsp:cNvSpPr/>
      </dsp:nvSpPr>
      <dsp:spPr>
        <a:xfrm>
          <a:off x="3437929" y="0"/>
          <a:ext cx="3182540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system stores hotel guest records such as name, contact, CNIC, membership, room number, and stay details.</a:t>
          </a:r>
        </a:p>
      </dsp:txBody>
      <dsp:txXfrm>
        <a:off x="3437929" y="1490244"/>
        <a:ext cx="3182540" cy="2235367"/>
      </dsp:txXfrm>
    </dsp:sp>
    <dsp:sp modelId="{379B8CE4-8135-4F2C-A5A0-E55EBE328E9A}">
      <dsp:nvSpPr>
        <dsp:cNvPr id="0" name=""/>
        <dsp:cNvSpPr/>
      </dsp:nvSpPr>
      <dsp:spPr>
        <a:xfrm>
          <a:off x="3437929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  <a:endParaRPr lang="en-US" sz="6600" kern="1200" dirty="0"/>
        </a:p>
      </dsp:txBody>
      <dsp:txXfrm>
        <a:off x="3437929" y="0"/>
        <a:ext cx="3182540" cy="1490244"/>
      </dsp:txXfrm>
    </dsp:sp>
    <dsp:sp modelId="{0802B4A8-7224-4B0A-95B7-D17AEB2B2AFF}">
      <dsp:nvSpPr>
        <dsp:cNvPr id="0" name=""/>
        <dsp:cNvSpPr/>
      </dsp:nvSpPr>
      <dsp:spPr>
        <a:xfrm>
          <a:off x="6875859" y="0"/>
          <a:ext cx="3182540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Binary file handling (</a:t>
          </a:r>
          <a:r>
            <a:rPr lang="en-US" sz="2000" kern="1200" dirty="0" err="1"/>
            <a:t>fwrite</a:t>
          </a:r>
          <a:r>
            <a:rPr lang="en-US" sz="2000" kern="1200" dirty="0"/>
            <a:t> and </a:t>
          </a:r>
          <a:r>
            <a:rPr lang="en-US" sz="2000" kern="1200" dirty="0" err="1"/>
            <a:t>fread</a:t>
          </a:r>
          <a:r>
            <a:rPr lang="en-US" sz="2000" kern="1200" dirty="0"/>
            <a:t>) is used to save and display customer records efficiently.</a:t>
          </a:r>
        </a:p>
      </dsp:txBody>
      <dsp:txXfrm>
        <a:off x="6875859" y="1490244"/>
        <a:ext cx="3182540" cy="2235367"/>
      </dsp:txXfrm>
    </dsp:sp>
    <dsp:sp modelId="{68AC9669-DC11-473A-AA2E-579A44E78C37}">
      <dsp:nvSpPr>
        <dsp:cNvPr id="0" name=""/>
        <dsp:cNvSpPr/>
      </dsp:nvSpPr>
      <dsp:spPr>
        <a:xfrm>
          <a:off x="6875073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  <a:endParaRPr lang="en-US" sz="6600" kern="1200" dirty="0"/>
        </a:p>
      </dsp:txBody>
      <dsp:txXfrm>
        <a:off x="6875073" y="0"/>
        <a:ext cx="3182540" cy="1490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#1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97D4F0E7-A380-4E8A-A5E6-02A2C57BE889}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{5712BDC4-329B-45B2-9194-A148ABB6560A}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{8984278A-33F0-4B08-ABC0-F48449CE37F3}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46"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013" y="1821586"/>
            <a:ext cx="5301158" cy="205216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Programming Fundamental 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9663" y="3571222"/>
            <a:ext cx="4947857" cy="120679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Rameen Shaikh </a:t>
            </a:r>
          </a:p>
          <a:p>
            <a:r>
              <a:rPr lang="en-US" dirty="0">
                <a:solidFill>
                  <a:schemeClr val="tx1"/>
                </a:solidFill>
              </a:rPr>
              <a:t>Raja Muhammad Yahya</a:t>
            </a:r>
          </a:p>
          <a:p>
            <a:r>
              <a:rPr lang="en-US" dirty="0">
                <a:solidFill>
                  <a:schemeClr val="tx1"/>
                </a:solidFill>
              </a:rPr>
              <a:t>Sami Haider</a:t>
            </a:r>
          </a:p>
          <a:p>
            <a:r>
              <a:rPr lang="en-US" dirty="0">
                <a:solidFill>
                  <a:schemeClr val="tx1"/>
                </a:solidFill>
              </a:rPr>
              <a:t>Sara Shahzad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8085-1FFF-44DD-A144-D794D923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Hotel Management </a:t>
            </a:r>
          </a:p>
        </p:txBody>
      </p:sp>
      <p:graphicFrame>
        <p:nvGraphicFramePr>
          <p:cNvPr id="5" name="Content Placeholder 2" descr="SmartArt Process Diagram">
            <a:extLst>
              <a:ext uri="{FF2B5EF4-FFF2-40B4-BE49-F238E27FC236}">
                <a16:creationId xmlns:a16="http://schemas.microsoft.com/office/drawing/2014/main" id="{60233515-42BF-4401-AB7F-458C06159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06780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377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1A3D2-BFFA-E00C-FF53-4DBA9BA8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53" y="1516441"/>
            <a:ext cx="2312480" cy="501901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Output</a:t>
            </a:r>
            <a:r>
              <a:rPr lang="en-US" sz="2800" b="1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B45209-B8A8-E1C5-A1F0-05EBC90AE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334" y="2356947"/>
            <a:ext cx="2312479" cy="3854197"/>
          </a:xfrm>
        </p:spPr>
        <p:txBody>
          <a:bodyPr>
            <a:noAutofit/>
          </a:bodyPr>
          <a:lstStyle/>
          <a:p>
            <a:r>
              <a:rPr lang="en-US" sz="1600" dirty="0"/>
              <a:t>The output shows that the program stores hotel customer records in a file and displays them successfully using file handling in C language.</a:t>
            </a:r>
            <a:endParaRPr lang="en-US" sz="15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5E8DF-8553-E34C-9F07-02D6FF67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786" y="237744"/>
            <a:ext cx="8212114" cy="65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47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9EDDFA-8F05-462B-8D3E-5B9C4FBC7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6BEECCB-09C3-4E64-E61A-60A3AFF4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54" y="1350507"/>
            <a:ext cx="5367165" cy="416979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43F9A23-3237-4ED6-A1E9-C0E6530E0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3CD46D-4335-4BA4-842A-BF835A99C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156609-9300-C470-17A2-E89310DF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82" y="531628"/>
            <a:ext cx="4472922" cy="55034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Hotel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 named Hotel is created.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all customer information together.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[30];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[30];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variables store the customer's first name and last name.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int contact[20];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int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cnic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store the customer's contact number and CNIC number.</a:t>
            </a:r>
          </a:p>
          <a:p>
            <a:pPr marL="0" indent="0">
              <a:buNone/>
            </a:pP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13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B3528-157B-5103-D467-8E1589AD8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13320"/>
            <a:ext cx="10058400" cy="334797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pas;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user;</a:t>
            </a:r>
            <a:b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‘y’;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 stores password. user stores username first character.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the loop for entering more records.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("Note: The project not covered user management...");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message about the project and login details.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("%c", &amp;user);</a:t>
            </a:r>
            <a:b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&amp;pas);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username character and password from the user.</a:t>
            </a:r>
          </a:p>
          <a:p>
            <a:pPr marL="0" indent="0">
              <a:buNone/>
            </a:pPr>
            <a:endParaRPr lang="fr-FR" sz="1600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AEF7CE-11C0-7ACE-792B-9BA1210C2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74" y="596702"/>
            <a:ext cx="9760452" cy="22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7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4EB8-12B5-D066-47DB-AF0BDB2FF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56" y="2211572"/>
            <a:ext cx="11015330" cy="419986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if (user == 'c' &amp; pas == 123)</a:t>
            </a:r>
          </a:p>
          <a:p>
            <a:r>
              <a:rPr lang="en-US" dirty="0"/>
              <a:t>Checks if username and password are correct.</a:t>
            </a:r>
          </a:p>
          <a:p>
            <a:r>
              <a:rPr lang="en-US" dirty="0"/>
              <a:t>If correct, the program continues.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printf</a:t>
            </a:r>
            <a:r>
              <a:rPr lang="en-US" b="1" dirty="0"/>
              <a:t>("WELCOME TO THE COMSATS HOTEL MANAGEMENT SYSTEM");</a:t>
            </a:r>
          </a:p>
          <a:p>
            <a:pPr marL="0" indent="0">
              <a:buNone/>
            </a:pPr>
            <a:r>
              <a:rPr lang="en-US" dirty="0"/>
              <a:t>Displays welcome message after successful login.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struct Hotel h;</a:t>
            </a:r>
            <a:br>
              <a:rPr lang="en-US" b="1" dirty="0"/>
            </a:br>
            <a:r>
              <a:rPr lang="en-US" b="1" dirty="0"/>
              <a:t>FILE *</a:t>
            </a:r>
            <a:r>
              <a:rPr lang="en-US" b="1" dirty="0" err="1"/>
              <a:t>fp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h is a structure variable.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fp</a:t>
            </a:r>
            <a:r>
              <a:rPr lang="en-US" dirty="0"/>
              <a:t> is a file pointer used for file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fp</a:t>
            </a:r>
            <a:r>
              <a:rPr lang="en-US" b="1" dirty="0"/>
              <a:t> = </a:t>
            </a:r>
            <a:r>
              <a:rPr lang="en-US" b="1" dirty="0" err="1"/>
              <a:t>fopen</a:t>
            </a:r>
            <a:r>
              <a:rPr lang="en-US" b="1" dirty="0"/>
              <a:t>("hotel.txt", "</a:t>
            </a:r>
            <a:r>
              <a:rPr lang="en-US" b="1" dirty="0" err="1"/>
              <a:t>wb</a:t>
            </a:r>
            <a:r>
              <a:rPr lang="en-US" b="1" dirty="0"/>
              <a:t>");</a:t>
            </a:r>
          </a:p>
          <a:p>
            <a:r>
              <a:rPr lang="en-US" dirty="0"/>
              <a:t>Creates/open file in binary write mode.</a:t>
            </a:r>
          </a:p>
          <a:p>
            <a:r>
              <a:rPr lang="en-US" dirty="0"/>
              <a:t>w = write </a:t>
            </a:r>
          </a:p>
          <a:p>
            <a:r>
              <a:rPr lang="en-US" dirty="0"/>
              <a:t>b = binary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D1C92-4273-D56B-11FF-8D0E6A8EA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31628"/>
            <a:ext cx="9863470" cy="16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1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4F138-9C35-8D05-9340-263D09E66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17" y="892220"/>
            <a:ext cx="5054517" cy="489189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350EE6E-BC52-29E4-61BE-3D0F57C04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892220"/>
            <a:ext cx="4957554" cy="51428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while (</a:t>
            </a:r>
            <a:r>
              <a:rPr lang="en-US" b="1" dirty="0" err="1"/>
              <a:t>inp</a:t>
            </a:r>
            <a:r>
              <a:rPr lang="en-US" b="1" dirty="0"/>
              <a:t> == 'y’)</a:t>
            </a:r>
            <a:br>
              <a:rPr lang="en-US" b="1" dirty="0"/>
            </a:b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dirty="0"/>
              <a:t>Loop runs while user enters 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scanf</a:t>
            </a:r>
            <a:r>
              <a:rPr lang="en-US" b="1" dirty="0"/>
              <a:t>("%s", </a:t>
            </a:r>
            <a:r>
              <a:rPr lang="en-US" b="1" dirty="0" err="1"/>
              <a:t>h.fname</a:t>
            </a:r>
            <a:r>
              <a:rPr lang="en-US" b="1" dirty="0"/>
              <a:t>);</a:t>
            </a:r>
            <a:br>
              <a:rPr lang="en-US" b="1" dirty="0"/>
            </a:br>
            <a:r>
              <a:rPr lang="en-US" b="1" dirty="0" err="1"/>
              <a:t>scanf</a:t>
            </a:r>
            <a:r>
              <a:rPr lang="en-US" b="1" dirty="0"/>
              <a:t>("%s", </a:t>
            </a:r>
            <a:r>
              <a:rPr lang="en-US" b="1" dirty="0" err="1"/>
              <a:t>h.lname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/>
              <a:t>Takes first name and last name as input.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scanf</a:t>
            </a:r>
            <a:r>
              <a:rPr lang="en-US" b="1" dirty="0"/>
              <a:t>("%s", &amp;</a:t>
            </a:r>
            <a:r>
              <a:rPr lang="en-US" b="1" dirty="0" err="1"/>
              <a:t>h.contact</a:t>
            </a:r>
            <a:r>
              <a:rPr lang="en-US" b="1" dirty="0"/>
              <a:t>);</a:t>
            </a:r>
            <a:br>
              <a:rPr lang="en-US" b="1" dirty="0"/>
            </a:br>
            <a:r>
              <a:rPr lang="en-US" b="1" dirty="0" err="1"/>
              <a:t>scanf</a:t>
            </a:r>
            <a:r>
              <a:rPr lang="en-US" b="1" dirty="0"/>
              <a:t>("%s", </a:t>
            </a:r>
            <a:r>
              <a:rPr lang="en-US" b="1" dirty="0" err="1"/>
              <a:t>h.cnic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/>
              <a:t>Takes contact number and CNIC from user.</a:t>
            </a:r>
          </a:p>
          <a:p>
            <a:pPr marL="0" indent="0">
              <a:buNone/>
            </a:pPr>
            <a:r>
              <a:rPr lang="en-US" dirty="0"/>
              <a:t>And so on</a:t>
            </a:r>
          </a:p>
        </p:txBody>
      </p:sp>
    </p:spTree>
    <p:extLst>
      <p:ext uri="{BB962C8B-B14F-4D97-AF65-F5344CB8AC3E}">
        <p14:creationId xmlns:p14="http://schemas.microsoft.com/office/powerpoint/2010/main" val="75764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5BD28-9D1E-48D1-08A2-8E0725C03F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889"/>
          <a:stretch>
            <a:fillRect/>
          </a:stretch>
        </p:blipFill>
        <p:spPr>
          <a:xfrm>
            <a:off x="978195" y="1980138"/>
            <a:ext cx="4961539" cy="272193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C85DC2-A656-CA8F-F85C-D9118BE0A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808074"/>
            <a:ext cx="4957554" cy="522696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fwrite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(&amp;h,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(h), 1,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structure data into the file.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&amp;h → address of structure 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 → total size of structure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one record 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file pointer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("%s", &amp;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 user whether to enter another record.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Closes the file after writing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("hotel.txt", "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 file in binary read mode.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read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binary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443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8137-92D5-EC6C-5454-A42D90193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094074"/>
            <a:ext cx="10058400" cy="28586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fread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(&amp;h,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(h), 1,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records from file one by one.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continues until all records are read.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("%s\t\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\t\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...");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stored customer information on screen.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BFAA43-2228-9CCB-B33A-43AAB5681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91" y="685668"/>
            <a:ext cx="9314121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4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1565E-A50F-0D2C-6538-0583A8428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66484"/>
            <a:ext cx="10058400" cy="29862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fclose</a:t>
            </a:r>
            <a:r>
              <a:rPr lang="en-US" b="1" dirty="0"/>
              <a:t>(</a:t>
            </a:r>
            <a:r>
              <a:rPr lang="en-US" b="1" dirty="0" err="1"/>
              <a:t>fp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/>
              <a:t>Closes the file after reading.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else</a:t>
            </a:r>
            <a:br>
              <a:rPr lang="en-US" b="1" dirty="0"/>
            </a:br>
            <a:r>
              <a:rPr lang="en-US" b="1" dirty="0"/>
              <a:t>{</a:t>
            </a:r>
            <a:br>
              <a:rPr lang="en-US" b="1" dirty="0"/>
            </a:br>
            <a:r>
              <a:rPr lang="en-US" b="1" dirty="0" err="1"/>
              <a:t>printf</a:t>
            </a:r>
            <a:r>
              <a:rPr lang="en-US" b="1" dirty="0"/>
              <a:t>("\</a:t>
            </a:r>
            <a:r>
              <a:rPr lang="en-US" b="1" dirty="0" err="1"/>
              <a:t>nInvalid</a:t>
            </a:r>
            <a:r>
              <a:rPr lang="en-US" b="1" dirty="0"/>
              <a:t> username or password\n");</a:t>
            </a:r>
            <a:br>
              <a:rPr lang="en-US" b="1" dirty="0"/>
            </a:b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dirty="0"/>
              <a:t>If login details are wrong, error message is displayed.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42FC0-9457-B8DA-F313-B46E4DD36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428" y="563526"/>
            <a:ext cx="7176977" cy="22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93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A247-E693-8903-15C0-09569A6A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Overall Working of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5AE9-F1B8-3B19-8C38-EEF593757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User enters login details.</a:t>
            </a:r>
          </a:p>
          <a:p>
            <a:r>
              <a:rPr lang="en-US" sz="2000" dirty="0"/>
              <a:t> Program checks username and password.</a:t>
            </a:r>
          </a:p>
          <a:p>
            <a:r>
              <a:rPr lang="en-US" sz="2000" dirty="0"/>
              <a:t> User enters hotel customer records.</a:t>
            </a:r>
          </a:p>
          <a:p>
            <a:r>
              <a:rPr lang="en-US" sz="2000" dirty="0"/>
              <a:t> Records are stored in a file using file handling. </a:t>
            </a:r>
          </a:p>
          <a:p>
            <a:r>
              <a:rPr lang="en-US" sz="2000" dirty="0"/>
              <a:t>Program reads data from file.</a:t>
            </a:r>
          </a:p>
          <a:p>
            <a:r>
              <a:rPr lang="en-US" sz="2000" dirty="0"/>
              <a:t> All saved records are displayed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3970955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{4BCECBFE-6B57-4A5E-A205-56656C3A413C}TF029381d7-1900-4cf6-a601-bb0184aacdbaf0338e59_win32-4b933ff3c21f</Template>
  <TotalTime>86</TotalTime>
  <Words>634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Garamond</vt:lpstr>
      <vt:lpstr>Sagona Book</vt:lpstr>
      <vt:lpstr>Sagona ExtraLight</vt:lpstr>
      <vt:lpstr>Times New Roman</vt:lpstr>
      <vt:lpstr>Wingdings</vt:lpstr>
      <vt:lpstr>SavonVTI</vt:lpstr>
      <vt:lpstr>Programming Fundamental  </vt:lpstr>
      <vt:lpstr>Hotel Management </vt:lpstr>
      <vt:lpstr>Output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Overall Working of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(FA25-BEE-203) RAMEEN SHAIKH</dc:creator>
  <cp:lastModifiedBy>(FA25-BEE-203) RAMEEN SHAIKH</cp:lastModifiedBy>
  <cp:revision>1</cp:revision>
  <dcterms:created xsi:type="dcterms:W3CDTF">2026-05-19T14:32:35Z</dcterms:created>
  <dcterms:modified xsi:type="dcterms:W3CDTF">2026-05-19T15:58:38Z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